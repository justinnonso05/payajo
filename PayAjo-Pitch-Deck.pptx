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1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2A461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Together.
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Together.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8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run your Ajo or Esusu with friends, family, coworkers, and communities — built end-to-end across mobile, web, and backend.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623560"/>
            <a:ext cx="242316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CEC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623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5623560"/>
            <a:ext cx="242316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CEC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5623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5623560"/>
            <a:ext cx="242316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CEC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5623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A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Ajo is built on trust.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isn't always enough.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7F8F6"/>
          </a:solidFill>
          <a:ln/>
          <a:effectLst>
            <a:outerShdw sx="100000" sy="100000" kx="0" ky="0" algn="bl" rotWithShape="0" blurRad="101600" dist="38100" dir="5400000">
              <a:srgbClr val="1D310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Treasurer disappears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900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holds everyone's money, and everyone's trust.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2331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7F8F6"/>
          </a:solidFill>
          <a:ln/>
          <a:effectLst>
            <a:outerShdw sx="100000" sy="100000" kx="0" ky="0" algn="bl" rotWithShape="0" blurRad="101600" dist="38100" dir="5400000">
              <a:srgbClr val="1D310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contributions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9900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 catch who's behind until it's too late.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2331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7F8F6"/>
          </a:solidFill>
          <a:ln/>
          <a:effectLst>
            <a:outerShdw sx="100000" sy="100000" kx="0" ky="0" algn="bl" rotWithShape="0" blurRad="101600" dist="38100" dir="5400000">
              <a:srgbClr val="1D310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payment reminders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9900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forget, and the group quietly falls apart.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7F8F6"/>
          </a:solidFill>
          <a:ln/>
          <a:effectLst>
            <a:outerShdw sx="100000" sy="100000" kx="0" ky="0" algn="bl" rotWithShape="0" blurRad="101600" dist="38100" dir="5400000">
              <a:srgbClr val="1D310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record keeping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910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or a chat thread isn't a ledger.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42519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7F8F6"/>
          </a:solidFill>
          <a:ln/>
          <a:effectLst>
            <a:outerShdw sx="100000" sy="100000" kx="0" ky="0" algn="bl" rotWithShape="0" blurRad="101600" dist="38100" dir="5400000">
              <a:srgbClr val="1D310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disputes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4910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paid already” becomes a fight with no proof either way.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42519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7F8F6"/>
          </a:solidFill>
          <a:ln/>
          <a:effectLst>
            <a:outerShdw sx="100000" sy="100000" kx="0" ky="0" algn="bl" rotWithShape="0" blurRad="101600" dist="38100" dir="5400000">
              <a:srgbClr val="1D3108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transparency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4910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can't see the pool, the order, or where things stand.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1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PayAjo.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8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gets a dedicated reserved account. Every member gets a personal wallet. Every contribution is tracked automatically — so trust is backed by a system, not just a promise.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37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Reserved accounts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gets its own dedicated bank account via Monnify.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32004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3337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wallets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37033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once, pay contributions instantly from your balance.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00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contribution is logged and matched the moment it lands.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6634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800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BVN verification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5166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is identity-verified before they can join.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1691640"/>
            <a:ext cx="3611880" cy="3017520"/>
          </a:xfrm>
          <a:prstGeom prst="roundRect">
            <a:avLst>
              <a:gd name="adj" fmla="val 4545"/>
            </a:avLst>
          </a:prstGeom>
          <a:solidFill>
            <a:srgbClr val="2A4611"/>
          </a:solidFill>
          <a:ln w="12700">
            <a:solidFill>
              <a:srgbClr val="5BA7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₦2,400,000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7532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members · Round 5 of 12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75320" y="3246120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75520" y="330098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0" y="33009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75320" y="3749040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Chidi 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75520" y="380390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28" name="Text 26"/>
          <p:cNvSpPr/>
          <p:nvPr/>
        </p:nvSpPr>
        <p:spPr>
          <a:xfrm>
            <a:off x="9875520" y="38039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75320" y="4251960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Ngozi 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75520" y="430682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875520" y="4306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A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to your first payout.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1D310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901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your account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in minutes with your email and phone number.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502920" cy="502920"/>
          </a:xfrm>
          <a:prstGeom prst="ellipse">
            <a:avLst/>
          </a:prstGeom>
          <a:solidFill>
            <a:srgbClr val="1D3108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901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your identity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25146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BVN verification keeps every group member accountable.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502920" cy="502920"/>
          </a:xfrm>
          <a:prstGeom prst="ellipse">
            <a:avLst/>
          </a:prstGeom>
          <a:solidFill>
            <a:srgbClr val="1D3108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8240" y="1901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or join a group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25146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own circle or join one with an invite code.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1D310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9136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your wallet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your wallet, or pay a contribution straight from your bank.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931920"/>
            <a:ext cx="502920" cy="502920"/>
          </a:xfrm>
          <a:prstGeom prst="ellipse">
            <a:avLst/>
          </a:prstGeom>
          <a:solidFill>
            <a:srgbClr val="1D3108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39136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contributions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43400" y="4526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paid, who's pending, and where the pool stands — live.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931920"/>
            <a:ext cx="502920" cy="502920"/>
          </a:xfrm>
          <a:prstGeom prst="ellipse">
            <a:avLst/>
          </a:prstGeom>
          <a:solidFill>
            <a:srgbClr val="1D3108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78240" y="39136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 your payout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38160" y="4526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your turn, funds land straight in your bank account.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A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actually looks like.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728216"/>
            <a:ext cx="1892808" cy="4087368"/>
          </a:xfrm>
          <a:prstGeom prst="roundRect">
            <a:avLst>
              <a:gd name="adj" fmla="val 8696"/>
            </a:avLst>
          </a:prstGeom>
          <a:solidFill>
            <a:srgbClr val="1D3108"/>
          </a:solidFill>
          <a:ln/>
        </p:spPr>
      </p:sp>
      <p:pic>
        <p:nvPicPr>
          <p:cNvPr id="5" name="Image 0" descr="/Users/devsultan/Documents/AjoPay/frontend/public/images/create-accou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178308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897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32888" y="1728216"/>
            <a:ext cx="1892808" cy="4087368"/>
          </a:xfrm>
          <a:prstGeom prst="roundRect">
            <a:avLst>
              <a:gd name="adj" fmla="val 8696"/>
            </a:avLst>
          </a:prstGeom>
          <a:solidFill>
            <a:srgbClr val="1D3108"/>
          </a:solidFill>
          <a:ln/>
        </p:spPr>
      </p:sp>
      <p:pic>
        <p:nvPicPr>
          <p:cNvPr id="8" name="Image 1" descr="/Users/devsultan/Documents/AjoPay/frontend/public/images/sec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87752" y="1783080"/>
            <a:ext cx="1783080" cy="3977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96312" y="5897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0" y="1728216"/>
            <a:ext cx="1892808" cy="4087368"/>
          </a:xfrm>
          <a:prstGeom prst="roundRect">
            <a:avLst>
              <a:gd name="adj" fmla="val 8696"/>
            </a:avLst>
          </a:prstGeom>
          <a:solidFill>
            <a:srgbClr val="1D3108"/>
          </a:solidFill>
          <a:ln/>
        </p:spPr>
      </p:sp>
      <p:pic>
        <p:nvPicPr>
          <p:cNvPr id="11" name="Image 2" descr="/Users/devsultan/Documents/AjoPay/frontend/public/images/join-grou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26864" y="1783080"/>
            <a:ext cx="1783080" cy="3977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35424" y="5897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 create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611112" y="1728216"/>
            <a:ext cx="1892808" cy="4087368"/>
          </a:xfrm>
          <a:prstGeom prst="roundRect">
            <a:avLst>
              <a:gd name="adj" fmla="val 8696"/>
            </a:avLst>
          </a:prstGeom>
          <a:solidFill>
            <a:srgbClr val="1D3108"/>
          </a:solidFill>
          <a:ln/>
        </p:spPr>
      </p:sp>
      <p:pic>
        <p:nvPicPr>
          <p:cNvPr id="14" name="Image 3" descr="/Users/devsultan/Documents/AjoPay/frontend/public/images/fund-walle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65976" y="1783080"/>
            <a:ext cx="1783080" cy="3977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74536" y="5897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650224" y="1728216"/>
            <a:ext cx="1892808" cy="4087368"/>
          </a:xfrm>
          <a:prstGeom prst="roundRect">
            <a:avLst>
              <a:gd name="adj" fmla="val 8696"/>
            </a:avLst>
          </a:prstGeom>
          <a:solidFill>
            <a:srgbClr val="1D3108"/>
          </a:solidFill>
          <a:ln/>
        </p:spPr>
      </p:sp>
      <p:pic>
        <p:nvPicPr>
          <p:cNvPr id="17" name="Image 4" descr="/Users/devsultan/Documents/AjoPay/frontend/public/images/track-contributio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05088" y="1783080"/>
            <a:ext cx="1783080" cy="3977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13648" y="5897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details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10689336" y="1728216"/>
            <a:ext cx="1892808" cy="4087368"/>
          </a:xfrm>
          <a:prstGeom prst="roundRect">
            <a:avLst>
              <a:gd name="adj" fmla="val 8696"/>
            </a:avLst>
          </a:prstGeom>
          <a:solidFill>
            <a:srgbClr val="1D3108"/>
          </a:solidFill>
          <a:ln/>
        </p:spPr>
      </p:sp>
      <p:pic>
        <p:nvPicPr>
          <p:cNvPr id="20" name="Image 5" descr="/Users/devsultan/Documents/AjoPay/frontend/public/images/receive-payou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744200" y="1783080"/>
            <a:ext cx="1783080" cy="39776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652760" y="5897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A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every part of your Ajo.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8F6E0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75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Reserved Virtual Accounts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04495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savings group gets its own dedicated account.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8F6E0"/>
          </a:solidFill>
          <a:ln/>
        </p:spPr>
      </p:sp>
      <p:sp>
        <p:nvSpPr>
          <p:cNvPr id="10" name="Shape 8"/>
          <p:cNvSpPr/>
          <p:nvPr/>
        </p:nvSpPr>
        <p:spPr>
          <a:xfrm>
            <a:off x="3538728" y="2075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Wallet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38728" y="304495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once. Pay contributions instantly.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8F6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2075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Chat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27648" y="304495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and image sharing, right inside the app.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1874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8F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9116568" y="2075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21" name="Text 19"/>
          <p:cNvSpPr/>
          <p:nvPr/>
        </p:nvSpPr>
        <p:spPr>
          <a:xfrm>
            <a:off x="911656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16568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Reminders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16568" y="304495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nudges before a contribution deadline.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8F6E0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041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46177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BVN Verification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9808" y="501091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members can join a group.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3840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8F6E0"/>
          </a:solidFill>
          <a:ln/>
        </p:spPr>
      </p:sp>
      <p:sp>
        <p:nvSpPr>
          <p:cNvPr id="30" name="Shape 28"/>
          <p:cNvSpPr/>
          <p:nvPr/>
        </p:nvSpPr>
        <p:spPr>
          <a:xfrm>
            <a:off x="3538728" y="4041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38728" y="46177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History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38728" y="501091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recorded, timestamped, and visible.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840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8F6E0"/>
          </a:solidFill>
          <a:ln/>
        </p:spPr>
      </p:sp>
      <p:sp>
        <p:nvSpPr>
          <p:cNvPr id="35" name="Shape 33"/>
          <p:cNvSpPr/>
          <p:nvPr/>
        </p:nvSpPr>
        <p:spPr>
          <a:xfrm>
            <a:off x="6327648" y="4041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27648" y="46177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 Codes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27648" y="501091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groups instantly with a simple shareable code.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15400" y="3840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8F6E0"/>
          </a:solidFill>
          <a:ln/>
        </p:spPr>
      </p:sp>
      <p:sp>
        <p:nvSpPr>
          <p:cNvPr id="40" name="Shape 38"/>
          <p:cNvSpPr/>
          <p:nvPr/>
        </p:nvSpPr>
        <p:spPr>
          <a:xfrm>
            <a:off x="9116568" y="4041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CEC87"/>
          </a:solidFill>
          <a:ln/>
        </p:spPr>
      </p:sp>
      <p:sp>
        <p:nvSpPr>
          <p:cNvPr id="41" name="Text 39"/>
          <p:cNvSpPr/>
          <p:nvPr/>
        </p:nvSpPr>
        <p:spPr>
          <a:xfrm>
            <a:off x="911656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16568" y="46177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16568" y="501091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on payments, requests, and payouts.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A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ENGINEERED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stays with the group admin.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10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PIN-confirmed actions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Auto-debit, cycle swaps, delegations, and payouts all require the member's transaction PIN — nothing moves silently.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10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103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approvals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5603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choose whether cycle swaps and payout delegations need their sign-off, or auto-approve.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10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2519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Auto-debit, on your terms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opt in to automatic contributions, choosing how many days ahead of payout to pull from their wallet.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10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2519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backend jobs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scheduler evaluates payouts, reminders, and auto-debits on a continuous cycle — no manual admin work required.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31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working full stack.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+ Riverpod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20440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+ Tailwind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browser 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PostgreSQL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98280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Monnify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accounts, transfers, payouts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4343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&amp; chat image 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886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343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Cloud Messaging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5029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notifications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886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4343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Brevo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5029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 delivery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15400" y="3886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BA7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098280" y="4343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APScheduler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98280" y="5029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Payout, reminder &amp; auto-debit jobs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A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TWO PLATFORMS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both, in step.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D310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63840" y="1874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1874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658368"/>
          </a:xfrm>
          <a:prstGeom prst="roundRect">
            <a:avLst/>
          </a:prstGeom>
          <a:solidFill>
            <a:srgbClr val="F7F8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328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KYC &amp; PIN security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41080" y="2734056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469880" y="2734056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13" name="Text 11"/>
          <p:cNvSpPr/>
          <p:nvPr/>
        </p:nvSpPr>
        <p:spPr>
          <a:xfrm>
            <a:off x="1046988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11064240" cy="65836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9125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transfers &amp; receipts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41080" y="3392424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469880" y="3392424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19" name="Text 17"/>
          <p:cNvSpPr/>
          <p:nvPr/>
        </p:nvSpPr>
        <p:spPr>
          <a:xfrm>
            <a:off x="1046988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1064240" cy="658368"/>
          </a:xfrm>
          <a:prstGeom prst="roundRect">
            <a:avLst/>
          </a:prstGeom>
          <a:solidFill>
            <a:srgbClr val="F7F8F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4962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join &amp; manage groups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41080" y="4050792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69880" y="4050792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25" name="Text 23"/>
          <p:cNvSpPr/>
          <p:nvPr/>
        </p:nvSpPr>
        <p:spPr>
          <a:xfrm>
            <a:off x="10469880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07992"/>
            <a:ext cx="11064240" cy="65836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0799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swaps &amp; delegations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41080" y="4709160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29" name="Text 27"/>
          <p:cNvSpPr/>
          <p:nvPr/>
        </p:nvSpPr>
        <p:spPr>
          <a:xfrm>
            <a:off x="864108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69880" y="4709160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31" name="Text 29"/>
          <p:cNvSpPr/>
          <p:nvPr/>
        </p:nvSpPr>
        <p:spPr>
          <a:xfrm>
            <a:off x="10469880" y="4709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064240" cy="658368"/>
          </a:xfrm>
          <a:prstGeom prst="roundRect">
            <a:avLst/>
          </a:prstGeom>
          <a:solidFill>
            <a:srgbClr val="F7F8F6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1663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group chat + images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641080" y="5367528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35" name="Text 33"/>
          <p:cNvSpPr/>
          <p:nvPr/>
        </p:nvSpPr>
        <p:spPr>
          <a:xfrm>
            <a:off x="8641080" y="5367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469880" y="5367528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37" name="Text 35"/>
          <p:cNvSpPr/>
          <p:nvPr/>
        </p:nvSpPr>
        <p:spPr>
          <a:xfrm>
            <a:off x="10469880" y="5367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824728"/>
            <a:ext cx="11064240" cy="65836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82472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&amp; push notifications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641080" y="6025896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41" name="Text 39"/>
          <p:cNvSpPr/>
          <p:nvPr/>
        </p:nvSpPr>
        <p:spPr>
          <a:xfrm>
            <a:off x="8641080" y="6025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469880" y="6025896"/>
            <a:ext cx="256032" cy="256032"/>
          </a:xfrm>
          <a:prstGeom prst="ellipse">
            <a:avLst/>
          </a:prstGeom>
          <a:solidFill>
            <a:srgbClr val="ACEC87"/>
          </a:solidFill>
          <a:ln/>
        </p:spPr>
      </p:sp>
      <p:sp>
        <p:nvSpPr>
          <p:cNvPr id="43" name="Text 41"/>
          <p:cNvSpPr/>
          <p:nvPr/>
        </p:nvSpPr>
        <p:spPr>
          <a:xfrm>
            <a:off x="10469880" y="6025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1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A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taking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10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756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Time-of-day auto-debit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day-level scheduling to a precise deduction time members can set themselves.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10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756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push rollout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49631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Push Notifications capability and APNs key to bring parity to iOS delivery.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10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416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group analytics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6227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trends and payout history, visualized per group over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310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0416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1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notification links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46227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a notification jumps straight to the exact group and action that triggered it.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1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1828800"/>
            <a:ext cx="6400800" cy="6400800"/>
          </a:xfrm>
          <a:prstGeom prst="ellipse">
            <a:avLst/>
          </a:prstGeom>
          <a:solidFill>
            <a:srgbClr val="2A461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CE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PAYAJO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Together.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ACEC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Together.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chasing payments. No more missing records. No more disappearing treasurers.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2026-07-21T17:00:08Z</dcterms:created>
  <dcterms:modified xsi:type="dcterms:W3CDTF">2026-07-21T17:00:08Z</dcterms:modified>
</cp:coreProperties>
</file>